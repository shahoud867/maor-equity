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66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houd Shahid" userId="3c9cab93-14e5-4819-b0da-9c888b27567f" providerId="ADAL" clId="{F3DB6A94-22EA-4126-B191-698C38F207E8}"/>
    <pc:docChg chg="undo custSel modSld">
      <pc:chgData name="Shahoud Shahid" userId="3c9cab93-14e5-4819-b0da-9c888b27567f" providerId="ADAL" clId="{F3DB6A94-22EA-4126-B191-698C38F207E8}" dt="2026-05-02T17:15:24.893" v="41" actId="21"/>
      <pc:docMkLst>
        <pc:docMk/>
      </pc:docMkLst>
      <pc:sldChg chg="modSp mod">
        <pc:chgData name="Shahoud Shahid" userId="3c9cab93-14e5-4819-b0da-9c888b27567f" providerId="ADAL" clId="{F3DB6A94-22EA-4126-B191-698C38F207E8}" dt="2026-05-02T16:52:07.533" v="31" actId="14100"/>
        <pc:sldMkLst>
          <pc:docMk/>
          <pc:sldMk cId="0" sldId="262"/>
        </pc:sldMkLst>
        <pc:spChg chg="mod">
          <ac:chgData name="Shahoud Shahid" userId="3c9cab93-14e5-4819-b0da-9c888b27567f" providerId="ADAL" clId="{F3DB6A94-22EA-4126-B191-698C38F207E8}" dt="2026-05-02T16:52:00.493" v="29" actId="14100"/>
          <ac:spMkLst>
            <pc:docMk/>
            <pc:sldMk cId="0" sldId="262"/>
            <ac:spMk id="12" creationId="{00000000-0000-0000-0000-000000000000}"/>
          </ac:spMkLst>
        </pc:spChg>
        <pc:graphicFrameChg chg="mod modGraphic">
          <ac:chgData name="Shahoud Shahid" userId="3c9cab93-14e5-4819-b0da-9c888b27567f" providerId="ADAL" clId="{F3DB6A94-22EA-4126-B191-698C38F207E8}" dt="2026-05-02T16:52:07.533" v="31" actId="14100"/>
          <ac:graphicFrameMkLst>
            <pc:docMk/>
            <pc:sldMk cId="0" sldId="262"/>
            <ac:graphicFrameMk id="15" creationId="{00000000-0000-0000-0000-000000000000}"/>
          </ac:graphicFrameMkLst>
        </pc:graphicFrameChg>
      </pc:sldChg>
      <pc:sldChg chg="addSp delSp modSp mod">
        <pc:chgData name="Shahoud Shahid" userId="3c9cab93-14e5-4819-b0da-9c888b27567f" providerId="ADAL" clId="{F3DB6A94-22EA-4126-B191-698C38F207E8}" dt="2026-05-02T17:15:24.893" v="41" actId="21"/>
        <pc:sldMkLst>
          <pc:docMk/>
          <pc:sldMk cId="0" sldId="263"/>
        </pc:sldMkLst>
        <pc:picChg chg="add del mod">
          <ac:chgData name="Shahoud Shahid" userId="3c9cab93-14e5-4819-b0da-9c888b27567f" providerId="ADAL" clId="{F3DB6A94-22EA-4126-B191-698C38F207E8}" dt="2026-05-02T17:15:24.893" v="41" actId="21"/>
          <ac:picMkLst>
            <pc:docMk/>
            <pc:sldMk cId="0" sldId="263"/>
            <ac:picMk id="11" creationId="{00000000-0000-0000-0000-000000000000}"/>
          </ac:picMkLst>
        </pc:picChg>
        <pc:picChg chg="add del mod">
          <ac:chgData name="Shahoud Shahid" userId="3c9cab93-14e5-4819-b0da-9c888b27567f" providerId="ADAL" clId="{F3DB6A94-22EA-4126-B191-698C38F207E8}" dt="2026-05-02T17:15:24.215" v="40" actId="931"/>
          <ac:picMkLst>
            <pc:docMk/>
            <pc:sldMk cId="0" sldId="263"/>
            <ac:picMk id="13" creationId="{9FA184D3-D7B4-5F99-2D7A-E2A4821ADFD1}"/>
          </ac:picMkLst>
        </pc:picChg>
      </pc:sldChg>
      <pc:sldChg chg="modSp mod">
        <pc:chgData name="Shahoud Shahid" userId="3c9cab93-14e5-4819-b0da-9c888b27567f" providerId="ADAL" clId="{F3DB6A94-22EA-4126-B191-698C38F207E8}" dt="2026-05-02T16:50:11.117" v="26" actId="14100"/>
        <pc:sldMkLst>
          <pc:docMk/>
          <pc:sldMk cId="0" sldId="265"/>
        </pc:sldMkLst>
        <pc:spChg chg="mod">
          <ac:chgData name="Shahoud Shahid" userId="3c9cab93-14e5-4819-b0da-9c888b27567f" providerId="ADAL" clId="{F3DB6A94-22EA-4126-B191-698C38F207E8}" dt="2026-05-02T16:49:47.469" v="19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Shahoud Shahid" userId="3c9cab93-14e5-4819-b0da-9c888b27567f" providerId="ADAL" clId="{F3DB6A94-22EA-4126-B191-698C38F207E8}" dt="2026-05-02T16:50:11.117" v="26" actId="14100"/>
          <ac:spMkLst>
            <pc:docMk/>
            <pc:sldMk cId="0" sldId="265"/>
            <ac:spMk id="12" creationId="{00000000-0000-0000-0000-000000000000}"/>
          </ac:spMkLst>
        </pc:spChg>
        <pc:spChg chg="mod">
          <ac:chgData name="Shahoud Shahid" userId="3c9cab93-14e5-4819-b0da-9c888b27567f" providerId="ADAL" clId="{F3DB6A94-22EA-4126-B191-698C38F207E8}" dt="2026-05-02T16:49:38.944" v="18" actId="1076"/>
          <ac:spMkLst>
            <pc:docMk/>
            <pc:sldMk cId="0" sldId="265"/>
            <ac:spMk id="13" creationId="{00000000-0000-0000-0000-000000000000}"/>
          </ac:spMkLst>
        </pc:spChg>
        <pc:spChg chg="mod">
          <ac:chgData name="Shahoud Shahid" userId="3c9cab93-14e5-4819-b0da-9c888b27567f" providerId="ADAL" clId="{F3DB6A94-22EA-4126-B191-698C38F207E8}" dt="2026-05-02T16:50:02.769" v="23" actId="14100"/>
          <ac:spMkLst>
            <pc:docMk/>
            <pc:sldMk cId="0" sldId="265"/>
            <ac:spMk id="1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1394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Shape 1"/>
          <p:cNvSpPr/>
          <p:nvPr/>
        </p:nvSpPr>
        <p:spPr>
          <a:xfrm>
            <a:off x="292608" y="0"/>
            <a:ext cx="45720" cy="5143500"/>
          </a:xfrm>
          <a:prstGeom prst="rect">
            <a:avLst/>
          </a:prstGeom>
          <a:solidFill>
            <a:srgbClr val="014D5A"/>
          </a:solidFill>
          <a:ln w="12700">
            <a:solidFill>
              <a:srgbClr val="014D5A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6B9ABE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Distributed Multi-Dimensional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dirty="0">
                <a:solidFill>
                  <a:srgbClr val="B0CCE8"/>
                </a:solidFill>
              </a:rPr>
              <a:t>NLP Pipeline for Real-Time Equity Research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2176272"/>
            <a:ext cx="34747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02920" y="2304288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7EACD4"/>
                </a:solidFill>
              </a:rPr>
              <a:t>Ray · FinBERT · Phi-3-mini · NVIDIA T1000 4 GB · FAST-NUCES Spring 2026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816352"/>
            <a:ext cx="2834640" cy="822960"/>
          </a:xfrm>
          <a:prstGeom prst="rect">
            <a:avLst/>
          </a:prstGeom>
          <a:solidFill>
            <a:srgbClr val="112840"/>
          </a:solidFill>
          <a:ln w="19050">
            <a:solidFill>
              <a:srgbClr val="028090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630936" y="287121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Shahoud Shahid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" y="32186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8090"/>
                </a:solidFill>
              </a:rPr>
              <a:t>23i-2515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11880" y="2816352"/>
            <a:ext cx="2834640" cy="822960"/>
          </a:xfrm>
          <a:prstGeom prst="rect">
            <a:avLst/>
          </a:prstGeom>
          <a:solidFill>
            <a:srgbClr val="112840"/>
          </a:solidFill>
          <a:ln w="19050">
            <a:solidFill>
              <a:srgbClr val="028090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3739896" y="287121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Saif Shahzad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39896" y="32186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8090"/>
                </a:solidFill>
              </a:rPr>
              <a:t>23i-2634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7673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EACD4"/>
                </a:solidFill>
              </a:rPr>
              <a:t>Course: PDC + NLP, FAST-NUCES  |  Date: May 2026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Introduction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01 / What is MAOR-Equity?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005840"/>
            <a:ext cx="489204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475488" y="106070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3A67"/>
                </a:solidFill>
              </a:rPr>
              <a:t>System Overview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" y="1417320"/>
            <a:ext cx="4617720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End-to-end automated equity research pipeline that reads SEC EDGAR filings (8-K, 10-K) and produces investment recommendations</a:t>
            </a:r>
            <a:endParaRPr lang="en-US" sz="115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Distributed computing via Ray across two heterogeneous nodes: Intel CPU head + NVIDIA T1000 GPU worker</a:t>
            </a:r>
            <a:endParaRPr lang="en-US" sz="115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Three FinBERT models for multi-dimensional sentiment — Market · Regulatory · Temporal — with regulatory veto logic</a:t>
            </a:r>
            <a:endParaRPr lang="en-US" sz="115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Phi-3-mini 3.8B 4-bit map-reduce summarization within 4 GB VRAM — no cloud, no fine-tuning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Output: BUY / HOLD / SELL + confidence score + 3×3 sentiment matrix + structured summary + audit rationale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94960" y="1005840"/>
            <a:ext cx="3401568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5522976" y="1060704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3A67"/>
                </a:solidFill>
              </a:rPr>
              <a:t>Project Scope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22976" y="1417320"/>
          <a:ext cx="3145536" cy="3145536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5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Coverage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PDC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Ray actor model · phase GPU serialization · cross-node parallelism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NLP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3-D FinBERT sentiment · map-reduce Phi-3-mini · guardrail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Hardware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NVIDIA T1000 — 4,096 MB VRAM (no cloud)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Evaluation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3 hypotheses — H1 latency, H2 quality, H3 sentiment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Results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H1 ✔ PASS  ·  H2 ✔ PASS  ·  H3 ✔ PASS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Motivation — Why Distributed NLP?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02 / The serial bottleneck problem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347472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438912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414s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38912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AAPL 8-K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DB8D4"/>
                </a:solidFill>
              </a:rPr>
              <a:t>B1 serial baseline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00984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3300984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3392424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1,272s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392424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MSFT 8-K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92424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DB8D4"/>
                </a:solidFill>
              </a:rPr>
              <a:t>B1 serial baseline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54496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2" name="Shape 20"/>
          <p:cNvSpPr/>
          <p:nvPr/>
        </p:nvSpPr>
        <p:spPr>
          <a:xfrm>
            <a:off x="6254496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6345936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843s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45936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Median B1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45936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DB8D4"/>
                </a:solidFill>
              </a:rPr>
              <a:t>&gt; 14 min per filing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7472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3A67"/>
                </a:solidFill>
              </a:rPr>
              <a:t>Root Causes of Serial Bottleneck: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7472" y="2743200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8" name="Shape 26"/>
          <p:cNvSpPr/>
          <p:nvPr/>
        </p:nvSpPr>
        <p:spPr>
          <a:xfrm>
            <a:off x="347472" y="2743200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512064" y="2779776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No task overlap — CPU sits idle while GPU works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45152" y="2743200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1" name="Shape 29"/>
          <p:cNvSpPr/>
          <p:nvPr/>
        </p:nvSpPr>
        <p:spPr>
          <a:xfrm>
            <a:off x="4645152" y="2743200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2" name="Text 30"/>
          <p:cNvSpPr/>
          <p:nvPr/>
        </p:nvSpPr>
        <p:spPr>
          <a:xfrm>
            <a:off x="4809744" y="2779776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Cold model reload — ~60s wasted per ticker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47472" y="3328416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4" name="Shape 32"/>
          <p:cNvSpPr/>
          <p:nvPr/>
        </p:nvSpPr>
        <p:spPr>
          <a:xfrm>
            <a:off x="347472" y="3328416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5" name="Text 33"/>
          <p:cNvSpPr/>
          <p:nvPr/>
        </p:nvSpPr>
        <p:spPr>
          <a:xfrm>
            <a:off x="512064" y="3364992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No chunk dedup — 79% redundant GPU inference calls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645152" y="3328416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7" name="Shape 35"/>
          <p:cNvSpPr/>
          <p:nvPr/>
        </p:nvSpPr>
        <p:spPr>
          <a:xfrm>
            <a:off x="4645152" y="3328416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8" name="Text 36"/>
          <p:cNvSpPr/>
          <p:nvPr/>
        </p:nvSpPr>
        <p:spPr>
          <a:xfrm>
            <a:off x="4809744" y="3364992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Context truncation — 80%+ of filing content discarded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47472" y="3977640"/>
            <a:ext cx="8449056" cy="694944"/>
          </a:xfrm>
          <a:prstGeom prst="rect">
            <a:avLst/>
          </a:prstGeom>
          <a:solidFill>
            <a:srgbClr val="D1F0F4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0" name="Text 38"/>
          <p:cNvSpPr/>
          <p:nvPr/>
        </p:nvSpPr>
        <p:spPr>
          <a:xfrm>
            <a:off x="548640" y="4023360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8090"/>
                </a:solidFill>
              </a:rPr>
              <a:t>Our Goal: </a:t>
            </a:r>
            <a:r>
              <a:rPr lang="en-US" sz="1300" dirty="0">
                <a:solidFill>
                  <a:srgbClr val="1E3A5F"/>
                </a:solidFill>
              </a:rPr>
              <a:t>Cut median latency by &gt;30% using Ray distributed computing — without degrading NLP quality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Literature Review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03 / Prior work and theoretical foundations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368503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Key Contribution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Relevance to MAOR-Equity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Ray — Moritz et al. (2018)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Actor-based distributed computing for AI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Core scheduler; all 5 pipeline agents are Ray actors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FinBERT — Araci (2019)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BERT pre-trained on financial text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Base model for Market &amp; Temporal sentiment dimensions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finbert-tone — yiyanghkust (2021)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Tone-aware FinBERT variant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Regulatory dimension classifier with veto logic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Phi-3-mini — Abdin et al. (2024)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3.8B LM, 4-bit deployable in 4 GB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Summarization + guardrail reasoning on T1000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QLoRA / NF4 — Dettmers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4-bit NF4 quantization for LLMs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Enables FinBERT + Phi-3 co-residence within 4 GB VRAM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vLLM — Kwon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PagedAttention for LLM serving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Informs VRAM management; our phase serialization complements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Map-Reduce LLM — Chang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Hierarchical chunk summarization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Foundation for Phase B map-reduce design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EDGAR-Corpus — Loukas (2021)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SEC EDGAR NLP corpus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Validates SEC EDGAR ingestion and chunking approach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Fin. PhraseBank — Malo et al. (2014)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Annotated financial sentiment corpus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Empirical distributions used for H3 Monte Carlo simulation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ECTSum — Mukherjee et al. (2022)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Earnings-call summarization dataset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H2 evaluation: 100 test samples, ROUGE + BERTScore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Amdahl's Law (1967)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Theoretical parallel speedup limit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H1 analysis framework: p=0.038, bound=1.019×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MapReduce — Dean &amp; Ghemawat (2008)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Parallel data processing paradigm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Conceptual basis for Phase B architecture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FinBen — Huang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Financial NLP benchmark suite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Motivates evaluation metrics and quality targets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Research Gap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04 / What prior work does not address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347472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438912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1. Single-Dimension Financial Sentiment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8912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FinBERT gives one score — conflates market, regulatory, and temporal risk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438912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3-D FinBERT: independent Market · Regulatory · Temporal with regulatory veto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3236976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3236976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3328416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2. LLM Inference on Constrained GPUs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28416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vLLM, FlexGen assume 16+ GB VRAM or cloud resources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3328416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Phase-serialized VRAM: FinBERT in headroom → flush → Phi-3 KV cache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6480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2" name="Shape 20"/>
          <p:cNvSpPr/>
          <p:nvPr/>
        </p:nvSpPr>
        <p:spPr>
          <a:xfrm>
            <a:off x="6126480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6217920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3. Distributed Pipeline for SEC Filings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17920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Ray used for ML training; NLP tools are single-node serving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6217920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Two-node heterogeneous Ray DAG from SEC ingestion to recommendation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347472" y="2871216"/>
            <a:ext cx="41788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7" name="Shape 25"/>
          <p:cNvSpPr/>
          <p:nvPr/>
        </p:nvSpPr>
        <p:spPr>
          <a:xfrm>
            <a:off x="347472" y="2871216"/>
            <a:ext cx="417880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8" name="Text 26"/>
          <p:cNvSpPr/>
          <p:nvPr/>
        </p:nvSpPr>
        <p:spPr>
          <a:xfrm>
            <a:off x="438912" y="2962656"/>
            <a:ext cx="3995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4. Chunk Redundancy in Financial NLP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3346704"/>
            <a:ext cx="3995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Naive 512-token chunking: adjacent chunks share 87.5% of tokens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438912" y="3950208"/>
            <a:ext cx="3995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TF-IDF ChunkFilter: cosine dedup + density scoring → 79% reduction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791456" y="2871216"/>
            <a:ext cx="41788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2" name="Shape 30"/>
          <p:cNvSpPr/>
          <p:nvPr/>
        </p:nvSpPr>
        <p:spPr>
          <a:xfrm>
            <a:off x="4791456" y="2871216"/>
            <a:ext cx="417880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4882896" y="2962656"/>
            <a:ext cx="3995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5. Transparent Speedup Attribution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82896" y="3346704"/>
            <a:ext cx="3995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Papers report raw speedup without decomposing Amdahl vs. non-Amdahl gains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4882896" y="3950208"/>
            <a:ext cx="3995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Explicit Amdahl (p=0.038, 1.019×) + warm actor (1.72×) breakdown</a:t>
            </a:r>
            <a:endParaRPr lang="en-US" sz="9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Problem Statement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05 / Three sub-problems on commodity hardware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987552"/>
            <a:ext cx="8449056" cy="868680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347472" y="987552"/>
            <a:ext cx="7315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530352" y="1014984"/>
            <a:ext cx="8138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FFFFFF"/>
                </a:solidFill>
              </a:rPr>
              <a:t>Financial equity research requires processing 50,000–200,000-word SEC filings through multiple NLP models. Single-node serial execution is too slow (843 s median) and too shallow (single-dimension sentiment) for real-time, multi-risk investment decision making.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5" name="Shape 13"/>
          <p:cNvSpPr/>
          <p:nvPr/>
        </p:nvSpPr>
        <p:spPr>
          <a:xfrm>
            <a:off x="347472" y="1993392"/>
            <a:ext cx="2761488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6" name="Shape 14"/>
          <p:cNvSpPr/>
          <p:nvPr/>
        </p:nvSpPr>
        <p:spPr>
          <a:xfrm>
            <a:off x="457200" y="2084832"/>
            <a:ext cx="475488" cy="47548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45720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</a:rPr>
              <a:t>Latency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75488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843s median per filing — 14× too slow.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Cold model reload wastes 60s/ticker.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79% of chunks are redundant GPU inference.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36976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1" name="Shape 19"/>
          <p:cNvSpPr/>
          <p:nvPr/>
        </p:nvSpPr>
        <p:spPr>
          <a:xfrm>
            <a:off x="3236976" y="1993392"/>
            <a:ext cx="2761488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2" name="Shape 20"/>
          <p:cNvSpPr/>
          <p:nvPr/>
        </p:nvSpPr>
        <p:spPr>
          <a:xfrm>
            <a:off x="3346704" y="2084832"/>
            <a:ext cx="475488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3346704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922776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28090"/>
                </a:solidFill>
              </a:rPr>
              <a:t>Summarization at Scale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364992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Single-pass truncation discards 80%+ of filing content.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No pipeline does map-reduce within 4 GB VRAM budget.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7" name="Shape 25"/>
          <p:cNvSpPr/>
          <p:nvPr/>
        </p:nvSpPr>
        <p:spPr>
          <a:xfrm>
            <a:off x="6126480" y="199339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8" name="Shape 26"/>
          <p:cNvSpPr/>
          <p:nvPr/>
        </p:nvSpPr>
        <p:spPr>
          <a:xfrm>
            <a:off x="6236208" y="2084832"/>
            <a:ext cx="475488" cy="47548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623620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13A67"/>
                </a:solidFill>
              </a:rPr>
              <a:t>Sentiment Depth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254496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Scalar FinBERT misses compliance risk: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• Strong earner + SEC fine → BUY (wrong)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• Weak quarter + bullish guidance → SELL (wrong)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7472" y="4389120"/>
            <a:ext cx="8449056" cy="329184"/>
          </a:xfrm>
          <a:prstGeom prst="rect">
            <a:avLst/>
          </a:prstGeom>
          <a:solidFill>
            <a:srgbClr val="D1F0F4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530352" y="44074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28090"/>
                </a:solidFill>
              </a:rPr>
              <a:t>Constraint: </a:t>
            </a:r>
            <a:r>
              <a:rPr lang="en-US" sz="1150" dirty="0">
                <a:solidFill>
                  <a:srgbClr val="1E3A5F"/>
                </a:solidFill>
              </a:rPr>
              <a:t>All three problems must be solved on Intel CPU + NVIDIA T1000 (4 GB VRAM) — no cloud APIs, no model fine-tuning.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Research Questions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06 / Hypotheses, metrics, and baselines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2542032"/>
        </p:xfrm>
        <a:graphic>
          <a:graphicData uri="http://schemas.openxmlformats.org/drawingml/2006/table">
            <a:tbl>
              <a:tblPr/>
              <a:tblGrid>
                <a:gridCol w="47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RQ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Research Question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a two-node Ray pipeline achieve significantly lower latency than serial baseline?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H1: Distributed ≥ 30% faster than B1 serial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Median wall-clock time (seconds)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30–50% reduction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map-reduce Phi-3-mini summarization maintain quality vs. single-pass truncation?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H2: ROUGE-L within ±1.0 of B2 baseline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ROUGE-L, BERTScore-F1 (ECTSum, n=100)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|ΔROUGE-L| ≤ 1.0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3-D FinBERT (Market + Regulatory + Temporal) alter directional recommendations vs. scalar?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H3: 3-D diverges from B3 scalar in &gt;10% of cases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% scenarios where direction changes (n=200)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&gt;10% divergence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47472" y="3529584"/>
            <a:ext cx="4572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3A67"/>
                </a:solidFill>
              </a:rPr>
              <a:t>Experimental Baselines: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1093400"/>
              </p:ext>
            </p:extLst>
          </p:nvPr>
        </p:nvGraphicFramePr>
        <p:xfrm>
          <a:off x="320040" y="3813048"/>
          <a:ext cx="8503920" cy="975360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3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Baseline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H1 latency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Full serial pipeline — same models, same chunks, no Ray, cold-load per ticker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H2 quality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Single-pass Phi-3-mini on full document (3,500-token truncation, no map-reduce)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H3 sentiment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Single-dimension ProsusAI/finbert only — no Regulatory or Temporal routing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Methodology — System Architecture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07 / Two-node heterogeneous Ray pipeline · phase-serialized VRAM</a:t>
            </a:r>
            <a:endParaRPr lang="en-US" sz="1050" dirty="0"/>
          </a:p>
        </p:txBody>
      </p:sp>
      <p:pic>
        <p:nvPicPr>
          <p:cNvPr id="11" name="Image 0" descr="C:\Users\shaho\OneDrive - FAST National University\Attachments\@Fast\Semester 6\PDC + NLP\maor-equity\diagrams\06_pdc_nlp_flagship_diagra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12064" y="987552"/>
            <a:ext cx="8631936" cy="37307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Results — H1: Latency (42% Speedup)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08 / Results &amp; Experimentation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H1 ✔ PASS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7472" y="987552"/>
            <a:ext cx="1664208" cy="1143000"/>
          </a:xfrm>
          <a:prstGeom prst="rect">
            <a:avLst/>
          </a:prstGeom>
          <a:solidFill>
            <a:srgbClr val="FEF2F2"/>
          </a:solidFill>
          <a:ln w="19050">
            <a:solidFill>
              <a:srgbClr val="7F1D1D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40233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F1D1D"/>
                </a:solidFill>
              </a:rPr>
              <a:t>843s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0233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</a:rPr>
              <a:t>B1 Serial Median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30552" y="987552"/>
            <a:ext cx="1664208" cy="1143000"/>
          </a:xfrm>
          <a:prstGeom prst="rect">
            <a:avLst/>
          </a:prstGeom>
          <a:solidFill>
            <a:srgbClr val="D1FAE5"/>
          </a:solidFill>
          <a:ln w="19050">
            <a:solidFill>
              <a:srgbClr val="065F46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218541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5F46"/>
                </a:solidFill>
              </a:rPr>
              <a:t>489s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18541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</a:rPr>
              <a:t>Distributed Median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13632" y="987552"/>
            <a:ext cx="1664208" cy="1143000"/>
          </a:xfrm>
          <a:prstGeom prst="rect">
            <a:avLst/>
          </a:prstGeom>
          <a:solidFill>
            <a:srgbClr val="D1F0F4"/>
          </a:solidFill>
          <a:ln w="19050">
            <a:solidFill>
              <a:srgbClr val="028090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0" name="Text 18"/>
          <p:cNvSpPr/>
          <p:nvPr/>
        </p:nvSpPr>
        <p:spPr>
          <a:xfrm>
            <a:off x="396849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</a:rPr>
              <a:t>1.72×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96849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</a:rPr>
              <a:t>Speedup Factor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2231136"/>
          <a:ext cx="5166360" cy="8046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8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AAPL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MSFT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Median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Reduction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B1 Serial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414.3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1,271.7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843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74151"/>
                          </a:solidFill>
                        </a:rPr>
                        <a:t>Distributed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240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738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489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−42%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347472" y="30906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A67"/>
                </a:solidFill>
              </a:rPr>
              <a:t>Speedup Attribution (Amdahl Analysis):</a:t>
            </a:r>
            <a:endParaRPr lang="en-US" sz="1100" dirty="0"/>
          </a:p>
        </p:txBody>
      </p:sp>
      <p:graphicFrame>
        <p:nvGraphicFramePr>
          <p:cNvPr id="2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3383280"/>
          <a:ext cx="5166360" cy="1405736"/>
        </p:xfrm>
        <a:graphic>
          <a:graphicData uri="http://schemas.openxmlformats.org/drawingml/2006/table">
            <a:tbl>
              <a:tblPr/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Contribution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Amdahl task parallelism (p=0.038, n=2)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1.019× (theoretical bound)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Warm actor persistence (no cold-load/ticker)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×1.30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Data parallelism (inter-ticker pipelining)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×1.30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74151"/>
                          </a:solidFill>
                        </a:rPr>
                        <a:t>Combined speedup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1.72× (actual)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5" name="Image 0" descr="C:\Users\shaho\OneDrive - FAST National University\Attachments\@Fast\Semester 6\PDC + NLP\maor-equity\figures\fig7_amdahl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0" y="987552"/>
            <a:ext cx="3081528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Results — H2: Quality · H3: Sentiment · Ablation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08 / Results &amp; Experimentation (continued)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81344" y="312420"/>
            <a:ext cx="726948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6172200" y="292608"/>
            <a:ext cx="736092" cy="367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H2 ✔ PASS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81444" y="301752"/>
            <a:ext cx="726948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 dirty="0"/>
          </a:p>
        </p:txBody>
      </p:sp>
      <p:sp>
        <p:nvSpPr>
          <p:cNvPr id="14" name="Text 12"/>
          <p:cNvSpPr/>
          <p:nvPr/>
        </p:nvSpPr>
        <p:spPr>
          <a:xfrm>
            <a:off x="6981444" y="301752"/>
            <a:ext cx="726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H3 ✔ PASS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987552"/>
            <a:ext cx="278892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6" name="Text 14"/>
          <p:cNvSpPr/>
          <p:nvPr/>
        </p:nvSpPr>
        <p:spPr>
          <a:xfrm>
            <a:off x="384048" y="987552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H2: Summarization Quality (ECTSum, n=100)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80160"/>
          <a:ext cx="2788920" cy="1420368"/>
        </p:xfrm>
        <a:graphic>
          <a:graphicData uri="http://schemas.openxmlformats.org/drawingml/2006/table">
            <a:tbl>
              <a:tblPr/>
              <a:tblGrid>
                <a:gridCol w="1115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7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0.28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0.29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+0.01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0.12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0.13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+0.01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0.32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0.31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−0.01 ✓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74151"/>
                          </a:solidFill>
                        </a:rPr>
                        <a:t>BERTScore-F1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0.880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0.887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+0.007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2596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|ΔROUGE-L| = 0.010 &lt; 1.0 tolerance ✔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BERTScore confirms semantic quality preserved</a:t>
            </a:r>
            <a:endParaRPr lang="en-US" sz="850" dirty="0"/>
          </a:p>
        </p:txBody>
      </p:sp>
      <p:pic>
        <p:nvPicPr>
          <p:cNvPr id="19" name="Image 0" descr="C:\Users\shaho\OneDrive - FAST National University\Attachments\@Fast\Semester 6\PDC + NLP\maor-equity\figures\fig5_rouge_comparis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0040" y="3054096"/>
            <a:ext cx="2788920" cy="159105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246120" y="987552"/>
            <a:ext cx="278892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1" name="Text 17"/>
          <p:cNvSpPr/>
          <p:nvPr/>
        </p:nvSpPr>
        <p:spPr>
          <a:xfrm>
            <a:off x="3310128" y="987552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H3: 3-D Sentiment Divergence (n=200 scenarios)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246120" y="1280160"/>
            <a:ext cx="2788920" cy="65836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3" name="Text 19"/>
          <p:cNvSpPr/>
          <p:nvPr/>
        </p:nvSpPr>
        <p:spPr>
          <a:xfrm>
            <a:off x="3246120" y="1280160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48%</a:t>
            </a:r>
            <a:endParaRPr lang="en-US" sz="3600" dirty="0"/>
          </a:p>
        </p:txBody>
      </p:sp>
      <p:sp>
        <p:nvSpPr>
          <p:cNvPr id="24" name="Text 20"/>
          <p:cNvSpPr/>
          <p:nvPr/>
        </p:nvSpPr>
        <p:spPr>
          <a:xfrm>
            <a:off x="4187952" y="1280160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DB8D4"/>
                </a:solidFill>
              </a:rPr>
              <a:t>divergence vs scalar B3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6120" y="1975104"/>
          <a:ext cx="2788920" cy="969264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Scalar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3-D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Earnings beat + SEC fine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7F1D1D"/>
                          </a:solidFill>
                        </a:rPr>
                        <a:t>BUY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065F46"/>
                          </a:solidFill>
                        </a:rPr>
                        <a:t>HOLD ✔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Weak quarter + bullish guide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7F1D1D"/>
                          </a:solidFill>
                        </a:rPr>
                        <a:t>SELL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065F46"/>
                          </a:solidFill>
                        </a:rPr>
                        <a:t>HOLD ✔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Neutral + litigation risk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B45309"/>
                          </a:solidFill>
                        </a:rPr>
                        <a:t>HOLD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065F46"/>
                          </a:solidFill>
                        </a:rPr>
                        <a:t>SELL ✔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 21"/>
          <p:cNvSpPr/>
          <p:nvPr/>
        </p:nvSpPr>
        <p:spPr>
          <a:xfrm>
            <a:off x="3246120" y="298094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65F46"/>
                </a:solidFill>
              </a:rPr>
              <a:t>Target: &gt;10%  |  Achieved: 48%  ✔</a:t>
            </a:r>
            <a:endParaRPr lang="en-US" sz="900" dirty="0"/>
          </a:p>
        </p:txBody>
      </p:sp>
      <p:pic>
        <p:nvPicPr>
          <p:cNvPr id="27" name="Image 1" descr="C:\Users\shaho\OneDrive - FAST National University\Attachments\@Fast\Semester 6\PDC + NLP\maor-equity\figures\fig6_h3_sentimen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46120" y="3273552"/>
            <a:ext cx="2788920" cy="13716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172200" y="987552"/>
            <a:ext cx="2624328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3"/>
          <p:cNvSpPr/>
          <p:nvPr/>
        </p:nvSpPr>
        <p:spPr>
          <a:xfrm>
            <a:off x="6236208" y="98755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Ablation: Speedup Drivers</a:t>
            </a:r>
            <a:endParaRPr lang="en-US" sz="95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80160"/>
          <a:ext cx="2624328" cy="1405128"/>
        </p:xfrm>
        <a:graphic>
          <a:graphicData uri="http://schemas.openxmlformats.org/drawingml/2006/table">
            <a:tbl>
              <a:tblPr/>
              <a:tblGrid>
                <a:gridCol w="1298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Component Removed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74151"/>
                          </a:solidFill>
                        </a:rPr>
                        <a:t>ChunkFilter (79% cut)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+690s/ticker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28090"/>
                          </a:solidFill>
                        </a:rPr>
                        <a:t>~85%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Warm actor persist.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+60s/ticker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~8%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Inter-ticker pipeline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+8s/batch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~3%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Phase A parallelism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+5s/ticker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~2%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 24"/>
          <p:cNvSpPr/>
          <p:nvPr/>
        </p:nvSpPr>
        <p:spPr>
          <a:xfrm>
            <a:off x="6172200" y="2596896"/>
            <a:ext cx="2624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ChunkFilter + warm actors → &gt;90% of speedup.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Phase A parallelism: validated; scales with more nodes.</a:t>
            </a:r>
            <a:endParaRPr lang="en-US" sz="850" dirty="0"/>
          </a:p>
        </p:txBody>
      </p:sp>
      <p:pic>
        <p:nvPicPr>
          <p:cNvPr id="32" name="Image 2" descr="C:\Users\shaho\OneDrive - FAST National University\Attachments\@Fast\Semester 6\PDC + NLP\maor-equity\figures\fig8_chunk_filter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2200" y="3017520"/>
            <a:ext cx="2624328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6B9ABE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47472" y="320040"/>
            <a:ext cx="64008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09 / Conclusion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47472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7" name="Shape 5"/>
          <p:cNvSpPr/>
          <p:nvPr/>
        </p:nvSpPr>
        <p:spPr>
          <a:xfrm>
            <a:off x="347472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" name="Text 6"/>
          <p:cNvSpPr/>
          <p:nvPr/>
        </p:nvSpPr>
        <p:spPr>
          <a:xfrm>
            <a:off x="438912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5F46"/>
                </a:solidFill>
              </a:rPr>
              <a:t>H1 ✔ PASS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</a:rPr>
              <a:t>1.72×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38912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42% Latency Reduction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8912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EACD4"/>
                </a:solidFill>
              </a:rPr>
              <a:t>843s → 489s median  ·  target: &gt;30%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36976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3" name="Shape 11"/>
          <p:cNvSpPr/>
          <p:nvPr/>
        </p:nvSpPr>
        <p:spPr>
          <a:xfrm>
            <a:off x="3236976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3328416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5F46"/>
                </a:solidFill>
              </a:rPr>
              <a:t>H2 ✔ PASS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28416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</a:rPr>
              <a:t>−0.01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328416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ROUGE-L Within Tolerance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28416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EACD4"/>
                </a:solidFill>
              </a:rPr>
              <a:t>BERTScore +0.007  ·  target: |Δ| ≤ 1.0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26480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9" name="Shape 17"/>
          <p:cNvSpPr/>
          <p:nvPr/>
        </p:nvSpPr>
        <p:spPr>
          <a:xfrm>
            <a:off x="6126480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0" name="Text 18"/>
          <p:cNvSpPr/>
          <p:nvPr/>
        </p:nvSpPr>
        <p:spPr>
          <a:xfrm>
            <a:off x="6217920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5F46"/>
                </a:solidFill>
              </a:rPr>
              <a:t>H3 ✔ PASS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17920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</a:rPr>
              <a:t>48%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217920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Sentiment Divergence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17920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EACD4"/>
                </a:solidFill>
              </a:rPr>
              <a:t>3-D vs scalar  ·  target: &gt;10%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26517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Four Technical Contributions: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2980944"/>
            <a:ext cx="8321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Phase-serialized GPU memory management — two LLMs co-resident in 4 GB T1000 (835 MB headroom)</a:t>
            </a:r>
            <a:endParaRPr lang="en-US" sz="1200" dirty="0"/>
          </a:p>
          <a:p>
            <a:pPr marL="342900" indent="-342900" algn="l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TF-IDF ChunkFilter — 79% chunk reduction, ~690 s saved per filing</a:t>
            </a:r>
            <a:endParaRPr lang="en-US" sz="1200" dirty="0"/>
          </a:p>
          <a:p>
            <a:pPr marL="342900" indent="-342900" algn="l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3-D FinBERT with regulatory veto — compliance risk invisible to scalar sentiment</a:t>
            </a:r>
            <a:endParaRPr lang="en-US" sz="12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Honest Amdahl analysis — why 1.72× actual exceeds 1.019× theoretical bound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371600" y="44622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8FAE"/>
                </a:solidFill>
              </a:rPr>
              <a:t>“Measure what you can. Estimate the rest with rigor.”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8" name="Text 2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References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10 / Academic sources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3703328"/>
        </p:xfrm>
        <a:graphic>
          <a:graphicData uri="http://schemas.openxmlformats.org/drawingml/2006/table">
            <a:tbl>
              <a:tblPr/>
              <a:tblGrid>
                <a:gridCol w="310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38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Author(s)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Title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Venue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Moritz et al. (2018)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Ray: A Distributed Framework for Emerging AI Applications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OSDI 2018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2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Araci (2019)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FinBERT: Financial Sentiment Analysis with Pre-Trained Language Models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arXiv:1908.10063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Abdin et al. (2024)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Phi-3 Technical Report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arXiv:2404.14219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4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Dettmers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QLoRA: Efficient Finetuning of Quantized LLMs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NeurIPS 2023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5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Kwon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Efficient Memory Management for LLM Serving with PagedAttention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SOSP 2023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6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Chang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 Survey on Evaluation of Large Language Models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ACM TIST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7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Malo et al. (2014)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Good Debt or Bad Debt: Detecting Semantic Orientations in Economic Texts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JASIST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8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Loukas (2021)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Edgar-Corpus: Billions of Tokens Make The World Go Round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FinNLP Workshop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9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Amdahl (1967)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Validity of the Single Processor Approach to Large Scale Computing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AFIPS 1967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10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Dean &amp; Ghemawat (2008)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MapReduce: Simplified Data Processing on Large Clusters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CACM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11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Guo et al. (2022)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LongT5: Efficient Text-to-Text Transformer for Long Sequences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arXiv:2112.07916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12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Huang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FinBen: A Holistic Financial Benchmark for Large Language Models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arXiv:2402.12659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Agrawal et al. (2024)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Taming Throughput-Latency Tradeoff in LLM Inference with Sarathi-Serve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OSDI 2024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14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Liu et al. (2019)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RoBERTa: A Robustly Optimized BERT Pretraining Approach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arXiv:1907.11692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15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Maia et al. (2018)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WWW'18 Open Challenge: Financial Opinion Mining and Q&amp;A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WWW 2018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2079</Words>
  <Application>Microsoft Office PowerPoint</Application>
  <PresentationFormat>On-screen Show (16:9)</PresentationFormat>
  <Paragraphs>389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MAOR-EQUITY: Distributed Multi-Dimensional NLP Pipeline for Real-Time Equity Research</dc:title>
  <dc:subject>PDC + NLP — FAST NUCES — Spring 2026</dc:subject>
  <dc:creator>Shahoud Shahid, Saif Shahzad</dc:creator>
  <cp:lastModifiedBy>Shahoud Shahid</cp:lastModifiedBy>
  <cp:revision>1</cp:revision>
  <dcterms:created xsi:type="dcterms:W3CDTF">2026-05-02T16:46:34Z</dcterms:created>
  <dcterms:modified xsi:type="dcterms:W3CDTF">2026-05-02T17:15:29Z</dcterms:modified>
</cp:coreProperties>
</file>