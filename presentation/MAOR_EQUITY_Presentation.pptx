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hahoud867/maor-equit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hahoud867/maor-equit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hahoud867/maor-equit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hahoud867/maor-equit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hahoud867/maor-equit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hahoud867/maor-equit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hahoud867/maor-equit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hahoud867/maor-equity" TargetMode="External"/><Relationship Id="rId2" Type="http://schemas.openxmlformats.org/officeDocument/2006/relationships/image" Target="../media/image-8-1.png"/><Relationship Id="rId3" Type="http://schemas.openxmlformats.org/officeDocument/2006/relationships/image" Target="../media/image-8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hahoud867/maor-equity" TargetMode="Externa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hahoud867/maor-equity" TargetMode="External"/><Relationship Id="rId2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image" Target="../media/image-1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hahoud867/maor-equit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hahoud867/maor-equit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0"/>
            <a:ext cx="45720" cy="5143500"/>
          </a:xfrm>
          <a:prstGeom prst="rect">
            <a:avLst/>
          </a:prstGeom>
          <a:solidFill>
            <a:srgbClr val="014D5A"/>
          </a:solidFill>
          <a:ln w="12700">
            <a:solidFill>
              <a:srgbClr val="014D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60F1D"/>
          </a:solidFill>
          <a:ln w="12700">
            <a:solidFill>
              <a:srgbClr val="060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6B9ABE"/>
                </a:solidFill>
              </a:rPr>
              <a:t>MAOR-EQUITY (PDC+NLP) — FAST NUCES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Distributed Multi-Dimensional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B0CCE8"/>
                </a:solidFill>
              </a:rPr>
              <a:t>NLP Pipeline for Real-Time Equity Research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02920" y="2176272"/>
            <a:ext cx="347472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0428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7EACD4"/>
                </a:solidFill>
              </a:rPr>
              <a:t>Ray · FinBERT · Phi-3-mini · NVIDIA T1000 4 GB · FAST-NUCES Spring 2026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816352"/>
            <a:ext cx="2834640" cy="822960"/>
          </a:xfrm>
          <a:prstGeom prst="rect">
            <a:avLst/>
          </a:prstGeom>
          <a:solidFill>
            <a:srgbClr val="112840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" y="287121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Shahoud Shahid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" y="321868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23i-2515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11880" y="2816352"/>
            <a:ext cx="2834640" cy="822960"/>
          </a:xfrm>
          <a:prstGeom prst="rect">
            <a:avLst/>
          </a:prstGeom>
          <a:solidFill>
            <a:srgbClr val="112840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39896" y="287121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Saif Shahzad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39896" y="321868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23i-2634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7673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EACD4"/>
                </a:solidFill>
              </a:rPr>
              <a:t>Course: PDC + NLP, FAST-NUCES  |  Date: May 2026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60F1D"/>
          </a:solidFill>
          <a:ln w="12700">
            <a:solidFill>
              <a:srgbClr val="060F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8C0"/>
                </a:solidFill>
              </a:rPr>
              <a:t>GitHub: </a:t>
            </a:r>
            <a:pPr algn="ctr" indent="0" marL="0">
              <a:buNone/>
            </a:pPr>
            <a:r>
              <a:rPr lang="en-US" sz="850" u="sng" dirty="0">
                <a:solidFill>
                  <a:srgbClr val="5BA4C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https://github.com/Shahoud867/maor-equity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MAOR-EQUITY (PDC+NLP) — FAST NUCES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8C0"/>
                </a:solidFill>
              </a:rPr>
              <a:t>GitHub: </a:t>
            </a:r>
            <a:pPr algn="ctr" indent="0" marL="0">
              <a:buNone/>
            </a:pPr>
            <a:r>
              <a:rPr lang="en-US" sz="850" u="sng" dirty="0">
                <a:solidFill>
                  <a:srgbClr val="5BA4C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https://github.com/Shahoud867/maor-equity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321040" y="301752"/>
            <a:ext cx="530352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0" y="30175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320040"/>
            <a:ext cx="64008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2926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3A67"/>
                </a:solidFill>
              </a:rPr>
              <a:t>Introduction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12064" y="68580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28090"/>
                </a:solidFill>
              </a:rPr>
              <a:t>01 / What is MAOR-Equity?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1005840"/>
            <a:ext cx="489204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" y="1060704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3A67"/>
                </a:solidFill>
              </a:rPr>
              <a:t>System Overview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" y="1417320"/>
            <a:ext cx="4617720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</a:rPr>
              <a:t>End-to-end automated equity research pipeline that reads SEC EDGAR filings (8-K, 10-K) and produces investment recommendations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</a:rPr>
              <a:t>Distributed computing via Ray across two heterogeneous nodes: Intel CPU head + NVIDIA T1000 GPU worker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</a:rPr>
              <a:t>Three FinBERT models for multi-dimensional sentiment — Market · Regulatory · Temporal — with regulatory veto logic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</a:rPr>
              <a:t>Phi-3-mini 3.8B 4-bit map-reduce summarization within 4 GB VRAM — no cloud, no fine-tuning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</a:rPr>
              <a:t>Output: BUY / HOLD / SELL + confidence score + 3×3 sentiment matrix + structured summary + audit rationale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94960" y="1005840"/>
            <a:ext cx="3401568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22976" y="1060704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3A67"/>
                </a:solidFill>
              </a:rPr>
              <a:t>Project Scope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22976" y="1417320"/>
          <a:ext cx="3145536" cy="3145536"/>
        </p:xfrm>
        <a:graphic>
          <a:graphicData uri="http://schemas.openxmlformats.org/drawingml/2006/table">
            <a:tbl>
              <a:tblPr/>
              <a:tblGrid>
                <a:gridCol w="960120"/>
                <a:gridCol w="2185416"/>
              </a:tblGrid>
              <a:tr h="524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Coverage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</a:tr>
              <a:tr h="524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</a:rPr>
                        <a:t>PDC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</a:rPr>
                        <a:t>Ray actor model · phase GPU serialization · cross-node parallelism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4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</a:rPr>
                        <a:t>NLP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</a:rPr>
                        <a:t>3-D FinBERT sentiment · map-reduce Phi-3-mini · guardrail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4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</a:rPr>
                        <a:t>Hardware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</a:rPr>
                        <a:t>NVIDIA T1000 — 4,096 MB VRAM (no cloud)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4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</a:rPr>
                        <a:t>Evaluation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</a:rPr>
                        <a:t>3 hypotheses — H1 latency, H2 quality, H3 sentiment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4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</a:rPr>
                        <a:t>Results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</a:rPr>
                        <a:t>H1 ✔ PASS  ·  H2 ✔ PASS  ·  H3 ✔ PASS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MAOR-EQUITY (PDC+NLP) — FAST NUCES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8C0"/>
                </a:solidFill>
              </a:rPr>
              <a:t>GitHub: </a:t>
            </a:r>
            <a:pPr algn="ctr" indent="0" marL="0">
              <a:buNone/>
            </a:pPr>
            <a:r>
              <a:rPr lang="en-US" sz="850" u="sng" dirty="0">
                <a:solidFill>
                  <a:srgbClr val="5BA4C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https://github.com/Shahoud867/maor-equity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321040" y="301752"/>
            <a:ext cx="530352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0" y="30175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320040"/>
            <a:ext cx="64008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2926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3A67"/>
                </a:solidFill>
              </a:rPr>
              <a:t>Motivation — Why Distributed NLP?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12064" y="68580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28090"/>
                </a:solidFill>
              </a:rPr>
              <a:t>02 / The serial bottleneck problem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1005840"/>
            <a:ext cx="2788920" cy="1298448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1005840"/>
            <a:ext cx="278892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05156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</a:rPr>
              <a:t>414s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38912" y="17099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AAPL 8-K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8912" y="199339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DB8D4"/>
                </a:solidFill>
              </a:rPr>
              <a:t>B1 serial baseline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00984" y="1005840"/>
            <a:ext cx="2788920" cy="1298448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00984" y="1005840"/>
            <a:ext cx="278892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92424" y="105156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</a:rPr>
              <a:t>1,272s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3392424" y="17099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MSFT 8-K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392424" y="199339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DB8D4"/>
                </a:solidFill>
              </a:rPr>
              <a:t>B1 serial baseline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54496" y="1005840"/>
            <a:ext cx="2788920" cy="1298448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54496" y="1005840"/>
            <a:ext cx="278892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105156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</a:rPr>
              <a:t>843s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345936" y="17099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Median B1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45936" y="199339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DB8D4"/>
                </a:solidFill>
              </a:rPr>
              <a:t>&gt; 14 min per filing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7472" y="2395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3A67"/>
                </a:solidFill>
              </a:rPr>
              <a:t>Root Causes of Serial Bottleneck: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7472" y="2743200"/>
            <a:ext cx="413308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7472" y="2743200"/>
            <a:ext cx="64008" cy="5120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2779776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No task overlap — CPU sits idle while GPU works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645152" y="2743200"/>
            <a:ext cx="413308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45152" y="2743200"/>
            <a:ext cx="64008" cy="5120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9744" y="2779776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Cold model reload — ~60s wasted per ticker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47472" y="3328416"/>
            <a:ext cx="413308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7472" y="3328416"/>
            <a:ext cx="64008" cy="5120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" y="3364992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No chunk dedup — 79% redundant GPU inference calls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645152" y="3328416"/>
            <a:ext cx="413308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45152" y="3328416"/>
            <a:ext cx="64008" cy="5120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9744" y="3364992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Context truncation — 80%+ of filing content discarded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47472" y="3977640"/>
            <a:ext cx="8449056" cy="694944"/>
          </a:xfrm>
          <a:prstGeom prst="rect">
            <a:avLst/>
          </a:prstGeom>
          <a:solidFill>
            <a:srgbClr val="D1F0F4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4023360"/>
            <a:ext cx="8046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Our Goal: </a:t>
            </a:r>
            <a:pPr algn="l" indent="0" marL="0">
              <a:buNone/>
            </a:pPr>
            <a:r>
              <a:rPr lang="en-US" sz="1300" dirty="0">
                <a:solidFill>
                  <a:srgbClr val="1E3A5F"/>
                </a:solidFill>
              </a:rPr>
              <a:t>Cut median latency by &gt;30% using Ray distributed computing — without degrading NLP quality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MAOR-EQUITY (PDC+NLP) — FAST NUCES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8C0"/>
                </a:solidFill>
              </a:rPr>
              <a:t>GitHub: </a:t>
            </a:r>
            <a:pPr algn="ctr" indent="0" marL="0">
              <a:buNone/>
            </a:pPr>
            <a:r>
              <a:rPr lang="en-US" sz="850" u="sng" dirty="0">
                <a:solidFill>
                  <a:srgbClr val="5BA4C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https://github.com/Shahoud867/maor-equity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321040" y="301752"/>
            <a:ext cx="530352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0" y="30175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320040"/>
            <a:ext cx="64008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2926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3A67"/>
                </a:solidFill>
              </a:rPr>
              <a:t>Literature Review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12064" y="68580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28090"/>
                </a:solidFill>
              </a:rPr>
              <a:t>03 / Prior work and theoretical foundations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87552"/>
          <a:ext cx="8503920" cy="3685032"/>
        </p:xfrm>
        <a:graphic>
          <a:graphicData uri="http://schemas.openxmlformats.org/drawingml/2006/table">
            <a:tbl>
              <a:tblPr/>
              <a:tblGrid>
                <a:gridCol w="2240280"/>
                <a:gridCol w="2788920"/>
                <a:gridCol w="3474720"/>
              </a:tblGrid>
              <a:tr h="2632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</a:rPr>
                        <a:t>Reference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</a:rPr>
                        <a:t>Key Contribution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</a:rPr>
                        <a:t>Relevance to MAOR-Equity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</a:tr>
              <a:tr h="2632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Ray — Moritz et al. (2018)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Actor-based distributed computing for AI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Core scheduler; all 5 pipeline agents are Ray actors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32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FinBERT — Araci (2019)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BERT pre-trained on financial text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Base model for Market &amp; Temporal sentiment dimensions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32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finbert-tone — yiyanghkust (2021)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Tone-aware FinBERT variant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Regulatory dimension classifier with veto logic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32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Phi-3-mini — Abdin et al. (2024)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3.8B LM, 4-bit deployable in 4 GB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Summarization + guardrail reasoning on T1000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32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QLoRA / NF4 — Dettmers et al. (2023)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4-bit NF4 quantization for LLMs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Enables FinBERT + Phi-3 co-residence within 4 GB VRAM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32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vLLM — Kwon et al. (2023)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PagedAttention for LLM serving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Informs VRAM management; our phase serialization complements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32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Map-Reduce LLM — Chang et al. (2023)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Hierarchical chunk summarization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Foundation for Phase B map-reduce design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32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EDGAR-Corpus — Loukas (2021)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SEC EDGAR NLP corpus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Validates SEC EDGAR ingestion and chunking approach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32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Fin. PhraseBank — Malo et al. (2014)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Annotated financial sentiment corpus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Empirical distributions used for H3 Monte Carlo simulation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32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ECTSum — Mukherjee et al. (2022)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Earnings-call summarization dataset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H2 evaluation: 100 test samples, ROUGE + BERTScore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32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Amdahl's Law (1967)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Theoretical parallel speedup limit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H1 analysis framework: p=0.038, bound=1.019×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32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MapReduce — Dean &amp; Ghemawat (2008)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Parallel data processing paradigm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Conceptual basis for Phase B architecture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32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FinBen — Huang et al. (2023)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Financial NLP benchmark suite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74151"/>
                          </a:solidFill>
                        </a:rPr>
                        <a:t>Motivates evaluation metrics and quality targets</a:t>
                      </a:r>
                      <a:endParaRPr lang="en-US" sz="93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MAOR-EQUITY (PDC+NLP) — FAST NUCES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8C0"/>
                </a:solidFill>
              </a:rPr>
              <a:t>GitHub: </a:t>
            </a:r>
            <a:pPr algn="ctr" indent="0" marL="0">
              <a:buNone/>
            </a:pPr>
            <a:r>
              <a:rPr lang="en-US" sz="850" u="sng" dirty="0">
                <a:solidFill>
                  <a:srgbClr val="5BA4C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https://github.com/Shahoud867/maor-equity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321040" y="301752"/>
            <a:ext cx="530352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0" y="30175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320040"/>
            <a:ext cx="64008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2926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3A67"/>
                </a:solidFill>
              </a:rPr>
              <a:t>Research Gap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12064" y="68580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28090"/>
                </a:solidFill>
              </a:rPr>
              <a:t>04 / What prior work does not address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987552"/>
            <a:ext cx="276148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987552"/>
            <a:ext cx="2761488" cy="54864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07899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3A67"/>
                </a:solidFill>
              </a:rPr>
              <a:t>1. Single-Dimension Financial Sentiment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8912" y="1463040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B45309"/>
                </a:solidFill>
              </a:rPr>
              <a:t>✕  </a:t>
            </a:r>
            <a:pPr algn="l" indent="0" marL="0">
              <a:buNone/>
            </a:pPr>
            <a:r>
              <a:rPr lang="en-US" sz="980" dirty="0">
                <a:solidFill>
                  <a:srgbClr val="374151"/>
                </a:solidFill>
              </a:rPr>
              <a:t>FinBERT gives one score — conflates market, regulatory, and temporal risk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38912" y="2066544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65F46"/>
                </a:solidFill>
              </a:rPr>
              <a:t>✔  </a:t>
            </a:r>
            <a:pPr algn="l" indent="0" marL="0">
              <a:buNone/>
            </a:pPr>
            <a:r>
              <a:rPr lang="en-US" sz="980" dirty="0">
                <a:solidFill>
                  <a:srgbClr val="374151"/>
                </a:solidFill>
              </a:rPr>
              <a:t>3-D FinBERT: independent Market · Regulatory · Temporal with regulatory veto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3236976" y="987552"/>
            <a:ext cx="276148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36976" y="987552"/>
            <a:ext cx="2761488" cy="54864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28416" y="107899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3A67"/>
                </a:solidFill>
              </a:rPr>
              <a:t>2. LLM Inference on Constrained GPUs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28416" y="1463040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B45309"/>
                </a:solidFill>
              </a:rPr>
              <a:t>✕  </a:t>
            </a:r>
            <a:pPr algn="l" indent="0" marL="0">
              <a:buNone/>
            </a:pPr>
            <a:r>
              <a:rPr lang="en-US" sz="980" dirty="0">
                <a:solidFill>
                  <a:srgbClr val="374151"/>
                </a:solidFill>
              </a:rPr>
              <a:t>vLLM, FlexGen assume 16+ GB VRAM or cloud resources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3328416" y="2066544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65F46"/>
                </a:solidFill>
              </a:rPr>
              <a:t>✔  </a:t>
            </a:r>
            <a:pPr algn="l" indent="0" marL="0">
              <a:buNone/>
            </a:pPr>
            <a:r>
              <a:rPr lang="en-US" sz="980" dirty="0">
                <a:solidFill>
                  <a:srgbClr val="374151"/>
                </a:solidFill>
              </a:rPr>
              <a:t>Phase-serialized VRAM: FinBERT in headroom → flush → Phi-3 KV cache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126480" y="987552"/>
            <a:ext cx="276148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987552"/>
            <a:ext cx="2761488" cy="54864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07899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3A67"/>
                </a:solidFill>
              </a:rPr>
              <a:t>3. Distributed Pipeline for SEC Filings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17920" y="1463040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B45309"/>
                </a:solidFill>
              </a:rPr>
              <a:t>✕  </a:t>
            </a:r>
            <a:pPr algn="l" indent="0" marL="0">
              <a:buNone/>
            </a:pPr>
            <a:r>
              <a:rPr lang="en-US" sz="980" dirty="0">
                <a:solidFill>
                  <a:srgbClr val="374151"/>
                </a:solidFill>
              </a:rPr>
              <a:t>Ray used for ML training; NLP tools are single-node serving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6217920" y="2066544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65F46"/>
                </a:solidFill>
              </a:rPr>
              <a:t>✔  </a:t>
            </a:r>
            <a:pPr algn="l" indent="0" marL="0">
              <a:buNone/>
            </a:pPr>
            <a:r>
              <a:rPr lang="en-US" sz="980" dirty="0">
                <a:solidFill>
                  <a:srgbClr val="374151"/>
                </a:solidFill>
              </a:rPr>
              <a:t>Two-node heterogeneous Ray DAG from SEC ingestion to recommendation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347472" y="2871216"/>
            <a:ext cx="41788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2871216"/>
            <a:ext cx="4178808" cy="54864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2962656"/>
            <a:ext cx="3995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3A67"/>
                </a:solidFill>
              </a:rPr>
              <a:t>4. Chunk Redundancy in Financial NLP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38912" y="3346704"/>
            <a:ext cx="3995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B45309"/>
                </a:solidFill>
              </a:rPr>
              <a:t>✕  </a:t>
            </a:r>
            <a:pPr algn="l" indent="0" marL="0">
              <a:buNone/>
            </a:pPr>
            <a:r>
              <a:rPr lang="en-US" sz="980" dirty="0">
                <a:solidFill>
                  <a:srgbClr val="374151"/>
                </a:solidFill>
              </a:rPr>
              <a:t>Naive 512-token chunking: adjacent chunks share 87.5% of tokens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438912" y="3950208"/>
            <a:ext cx="3995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65F46"/>
                </a:solidFill>
              </a:rPr>
              <a:t>✔  </a:t>
            </a:r>
            <a:pPr algn="l" indent="0" marL="0">
              <a:buNone/>
            </a:pPr>
            <a:r>
              <a:rPr lang="en-US" sz="980" dirty="0">
                <a:solidFill>
                  <a:srgbClr val="374151"/>
                </a:solidFill>
              </a:rPr>
              <a:t>TF-IDF ChunkFilter: cosine dedup + density scoring → 79% reduction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4791456" y="2871216"/>
            <a:ext cx="41788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91456" y="2871216"/>
            <a:ext cx="4178808" cy="54864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82896" y="2962656"/>
            <a:ext cx="3995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3A67"/>
                </a:solidFill>
              </a:rPr>
              <a:t>5. Transparent Speedup Attribution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82896" y="3346704"/>
            <a:ext cx="3995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B45309"/>
                </a:solidFill>
              </a:rPr>
              <a:t>✕  </a:t>
            </a:r>
            <a:pPr algn="l" indent="0" marL="0">
              <a:buNone/>
            </a:pPr>
            <a:r>
              <a:rPr lang="en-US" sz="980" dirty="0">
                <a:solidFill>
                  <a:srgbClr val="374151"/>
                </a:solidFill>
              </a:rPr>
              <a:t>Papers report raw speedup without decomposing Amdahl vs. non-Amdahl gains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882896" y="3950208"/>
            <a:ext cx="3995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65F46"/>
                </a:solidFill>
              </a:rPr>
              <a:t>✔  </a:t>
            </a:r>
            <a:pPr algn="l" indent="0" marL="0">
              <a:buNone/>
            </a:pPr>
            <a:r>
              <a:rPr lang="en-US" sz="980" dirty="0">
                <a:solidFill>
                  <a:srgbClr val="374151"/>
                </a:solidFill>
              </a:rPr>
              <a:t>Explicit Amdahl (p=0.038, 1.019×) + warm actor (1.72×) breakdown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MAOR-EQUITY (PDC+NLP) — FAST NUCES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8C0"/>
                </a:solidFill>
              </a:rPr>
              <a:t>GitHub: </a:t>
            </a:r>
            <a:pPr algn="ctr" indent="0" marL="0">
              <a:buNone/>
            </a:pPr>
            <a:r>
              <a:rPr lang="en-US" sz="850" u="sng" dirty="0">
                <a:solidFill>
                  <a:srgbClr val="5BA4C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https://github.com/Shahoud867/maor-equity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321040" y="301752"/>
            <a:ext cx="530352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0" y="30175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320040"/>
            <a:ext cx="64008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2926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3A67"/>
                </a:solidFill>
              </a:rPr>
              <a:t>Problem Statement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12064" y="68580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28090"/>
                </a:solidFill>
              </a:rPr>
              <a:t>05 / Three sub-problems on commodity hardware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987552"/>
            <a:ext cx="8449056" cy="868680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987552"/>
            <a:ext cx="73152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014984"/>
            <a:ext cx="8138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FFFFF"/>
                </a:solidFill>
              </a:rPr>
              <a:t>Financial equity research requires processing 50,000–200,000-word SEC filings through multiple NLP models. Single-node serial execution is too slow (843 s median) and too shallow (single-dimension sentiment) for real-time, multi-risk investment decision making.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7472" y="1993392"/>
            <a:ext cx="2761488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1993392"/>
            <a:ext cx="2761488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84832"/>
            <a:ext cx="475488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33272" y="210312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45309"/>
                </a:solidFill>
              </a:rPr>
              <a:t>Latency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75488" y="2633472"/>
            <a:ext cx="250545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843s median per filing — 14× too slow.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Cold model reload wastes 60s/ticker.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79% of chunks are redundant GPU inference.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36976" y="1993392"/>
            <a:ext cx="2761488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36976" y="1993392"/>
            <a:ext cx="2761488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46704" y="2084832"/>
            <a:ext cx="475488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46704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922776" y="210312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28090"/>
                </a:solidFill>
              </a:rPr>
              <a:t>Summarization at Scale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364992" y="2633472"/>
            <a:ext cx="250545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Single-pass truncation discards 80%+ of filing content.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No pipeline does map-reduce within 4 GB VRAM budget.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1993392"/>
            <a:ext cx="2761488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1993392"/>
            <a:ext cx="2761488" cy="54864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36208" y="2084832"/>
            <a:ext cx="475488" cy="475488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6208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12280" y="210312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3A67"/>
                </a:solidFill>
              </a:rPr>
              <a:t>Sentiment Depth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254496" y="2633472"/>
            <a:ext cx="250545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Scalar FinBERT misses compliance risk: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• Strong earner + SEC fine → BUY (wrong)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• Weak quarter + bullish guidance → SELL (wrong)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7472" y="4389120"/>
            <a:ext cx="8449056" cy="329184"/>
          </a:xfrm>
          <a:prstGeom prst="rect">
            <a:avLst/>
          </a:prstGeom>
          <a:solidFill>
            <a:srgbClr val="D1F0F4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4407408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8090"/>
                </a:solidFill>
              </a:rPr>
              <a:t>Constraint: </a:t>
            </a:r>
            <a:pPr algn="l" indent="0" marL="0">
              <a:buNone/>
            </a:pPr>
            <a:r>
              <a:rPr lang="en-US" sz="1150" dirty="0">
                <a:solidFill>
                  <a:srgbClr val="1E3A5F"/>
                </a:solidFill>
              </a:rPr>
              <a:t>All three problems must be solved on Intel CPU + NVIDIA T1000 (4 GB VRAM) — no cloud APIs, no model fine-tuning.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MAOR-EQUITY (PDC+NLP) — FAST NUCES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8C0"/>
                </a:solidFill>
              </a:rPr>
              <a:t>GitHub: </a:t>
            </a:r>
            <a:pPr algn="ctr" indent="0" marL="0">
              <a:buNone/>
            </a:pPr>
            <a:r>
              <a:rPr lang="en-US" sz="850" u="sng" dirty="0">
                <a:solidFill>
                  <a:srgbClr val="5BA4C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https://github.com/Shahoud867/maor-equity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321040" y="301752"/>
            <a:ext cx="530352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0" y="30175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320040"/>
            <a:ext cx="64008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2926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3A67"/>
                </a:solidFill>
              </a:rPr>
              <a:t>Research Questions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12064" y="68580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28090"/>
                </a:solidFill>
              </a:rPr>
              <a:t>06 / Hypotheses, metrics, and baselines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87552"/>
          <a:ext cx="8503920" cy="2542032"/>
        </p:xfrm>
        <a:graphic>
          <a:graphicData uri="http://schemas.openxmlformats.org/drawingml/2006/table">
            <a:tbl>
              <a:tblPr/>
              <a:tblGrid>
                <a:gridCol w="475488"/>
                <a:gridCol w="2377440"/>
                <a:gridCol w="2267712"/>
                <a:gridCol w="1828800"/>
                <a:gridCol w="1554480"/>
              </a:tblGrid>
              <a:tr h="6355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RQ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Research Question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Hypothesis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</a:tr>
              <a:tr h="6355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RQ1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Does a two-node Ray pipeline achieve significantly lower latency than serial baseline?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374151"/>
                          </a:solidFill>
                        </a:rPr>
                        <a:t>H1: Distributed ≥ 30% faster than B1 serial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Median wall-clock time (seconds)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30–50% reduction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5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RQ2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Does map-reduce Phi-3-mini summarization maintain quality vs. single-pass truncation?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374151"/>
                          </a:solidFill>
                        </a:rPr>
                        <a:t>H2: ROUGE-L within ±1.0 of B2 baseline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ROUGE-L, BERTScore-F1 (ECTSum, n=100)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|ΔROUGE-L| ≤ 1.0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5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RQ3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Does 3-D FinBERT (Market + Regulatory + Temporal) alter directional recommendations vs. scalar?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374151"/>
                          </a:solidFill>
                        </a:rPr>
                        <a:t>H3: 3-D diverges from B3 scalar in &gt;10% of cases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% scenarios where direction changes (n=200)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&gt;10% divergence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347472" y="36393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3A67"/>
                </a:solidFill>
              </a:rPr>
              <a:t>Experimental Baselines: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931920"/>
          <a:ext cx="8503920" cy="777240"/>
        </p:xfrm>
        <a:graphic>
          <a:graphicData uri="http://schemas.openxmlformats.org/drawingml/2006/table">
            <a:tbl>
              <a:tblPr/>
              <a:tblGrid>
                <a:gridCol w="658368"/>
                <a:gridCol w="1051560"/>
                <a:gridCol w="6793992"/>
              </a:tblGrid>
              <a:tr h="194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Tests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B1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H1 latency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Full serial pipeline — same models, same chunks, no Ray, cold-load per ticker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B2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H2 quality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Single-pass Phi-3-mini on full document (3,500-token truncation, no map-reduce)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B3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H3 sentiment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Single-dimension ProsusAI/finbert only — no Regulatory or Temporal routing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MAOR-EQUITY (PDC+NLP) — FAST NUCES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8C0"/>
                </a:solidFill>
              </a:rPr>
              <a:t>GitHub: </a:t>
            </a:r>
            <a:pPr algn="ctr" indent="0" marL="0">
              <a:buNone/>
            </a:pPr>
            <a:r>
              <a:rPr lang="en-US" sz="850" u="sng" dirty="0">
                <a:solidFill>
                  <a:srgbClr val="5BA4C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https://github.com/Shahoud867/maor-equity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321040" y="301752"/>
            <a:ext cx="530352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0" y="30175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320040"/>
            <a:ext cx="64008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2926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3A67"/>
                </a:solidFill>
              </a:rPr>
              <a:t>Methodology — System Architecture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12064" y="68580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28090"/>
                </a:solidFill>
              </a:rPr>
              <a:t>07 / Two-node heterogeneous Ray pipeline · phase-serialized VRAM</a:t>
            </a:r>
            <a:endParaRPr lang="en-US" sz="1050" dirty="0"/>
          </a:p>
        </p:txBody>
      </p:sp>
      <p:pic>
        <p:nvPicPr>
          <p:cNvPr id="11" name="Image 0" descr="C:\Users\shaho\OneDrive - FAST National University\Attachments\@Fast\Semester 6\PDC + NLP\maor-equity\diagrams\06_pdc_nlp_flagship_diagram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r="0" t="0" b="0"/>
          <a:stretch/>
        </p:blipFill>
        <p:spPr>
          <a:xfrm>
            <a:off x="256032" y="987552"/>
            <a:ext cx="8631936" cy="37307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MAOR-EQUITY (PDC+NLP) — FAST NUCES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8C0"/>
                </a:solidFill>
              </a:rPr>
              <a:t>GitHub: </a:t>
            </a:r>
            <a:pPr algn="ctr" indent="0" marL="0">
              <a:buNone/>
            </a:pPr>
            <a:r>
              <a:rPr lang="en-US" sz="850" u="sng" dirty="0">
                <a:solidFill>
                  <a:srgbClr val="5BA4C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https://github.com/Shahoud867/maor-equity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321040" y="301752"/>
            <a:ext cx="530352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0" y="30175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320040"/>
            <a:ext cx="64008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2926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3A67"/>
                </a:solidFill>
              </a:rPr>
              <a:t>Results — H1: Latency (42% Speedup)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12064" y="68580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28090"/>
                </a:solidFill>
              </a:rPr>
              <a:t>08 / Results &amp; Experimentation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949440" y="310896"/>
            <a:ext cx="1188720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3108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H1 ✔ PASS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987552"/>
            <a:ext cx="1664208" cy="1143000"/>
          </a:xfrm>
          <a:prstGeom prst="rect">
            <a:avLst/>
          </a:prstGeom>
          <a:solidFill>
            <a:srgbClr val="FEF2F2"/>
          </a:solidFill>
          <a:ln w="19050">
            <a:solidFill>
              <a:srgbClr val="7F1D1D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2336" y="103327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F1D1D"/>
                </a:solidFill>
              </a:rPr>
              <a:t>843s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02336" y="162763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B1 Serial Median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30552" y="987552"/>
            <a:ext cx="1664208" cy="1143000"/>
          </a:xfrm>
          <a:prstGeom prst="rect">
            <a:avLst/>
          </a:prstGeom>
          <a:solidFill>
            <a:srgbClr val="D1FAE5"/>
          </a:solidFill>
          <a:ln w="19050">
            <a:solidFill>
              <a:srgbClr val="065F4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85416" y="103327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F46"/>
                </a:solidFill>
              </a:rPr>
              <a:t>489s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185416" y="162763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Distributed Median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13632" y="987552"/>
            <a:ext cx="1664208" cy="1143000"/>
          </a:xfrm>
          <a:prstGeom prst="rect">
            <a:avLst/>
          </a:prstGeom>
          <a:solidFill>
            <a:srgbClr val="D1F0F4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968496" y="103327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</a:rPr>
              <a:t>1.72×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968496" y="162763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Speedup Factor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2231136"/>
          <a:ext cx="5166360" cy="804672"/>
        </p:xfrm>
        <a:graphic>
          <a:graphicData uri="http://schemas.openxmlformats.org/drawingml/2006/table">
            <a:tbl>
              <a:tblPr/>
              <a:tblGrid>
                <a:gridCol w="1417320"/>
                <a:gridCol w="914400"/>
                <a:gridCol w="1097280"/>
                <a:gridCol w="914400"/>
                <a:gridCol w="822960"/>
              </a:tblGrid>
              <a:tr h="268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AAPL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MSFT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Median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Reduction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</a:tr>
              <a:tr h="268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B1 Serial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414.3 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1,271.7 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843 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8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</a:rPr>
                        <a:t>Distributed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F46"/>
                          </a:solidFill>
                        </a:rPr>
                        <a:t>240 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F46"/>
                          </a:solidFill>
                        </a:rPr>
                        <a:t>738 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F46"/>
                          </a:solidFill>
                        </a:rPr>
                        <a:t>489 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F46"/>
                          </a:solidFill>
                        </a:rPr>
                        <a:t>−42%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347472" y="30906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67"/>
                </a:solidFill>
              </a:rPr>
              <a:t>Speedup Attribution (Amdahl Analysis):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3383280"/>
          <a:ext cx="5166360" cy="1261872"/>
        </p:xfrm>
        <a:graphic>
          <a:graphicData uri="http://schemas.openxmlformats.org/drawingml/2006/table">
            <a:tbl>
              <a:tblPr/>
              <a:tblGrid>
                <a:gridCol w="3703320"/>
                <a:gridCol w="1463040"/>
              </a:tblGrid>
              <a:tr h="2523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Driver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Contribution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Amdahl task parallelism (p=0.038, n=2)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1.019× (theoretical bound)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Warm actor persistence (no cold-load/ticker)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×1.30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Data parallelism (inter-ticker pipelining)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×1.30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</a:rPr>
                        <a:t>Combined speedup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1.72× (actual)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5" name="Image 0" descr="C:\Users\shaho\OneDrive - FAST National University\Attachments\@Fast\Semester 6\PDC + NLP\maor-equity\figures\fig7_amdah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15000" y="987552"/>
            <a:ext cx="3081528" cy="36393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MAOR-EQUITY (PDC+NLP) — FAST NUCES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8C0"/>
                </a:solidFill>
              </a:rPr>
              <a:t>GitHub: </a:t>
            </a:r>
            <a:pPr algn="ctr" indent="0" marL="0">
              <a:buNone/>
            </a:pPr>
            <a:r>
              <a:rPr lang="en-US" sz="850" u="sng" dirty="0">
                <a:solidFill>
                  <a:srgbClr val="5BA4C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https://github.com/Shahoud867/maor-equity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321040" y="301752"/>
            <a:ext cx="530352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0" y="30175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320040"/>
            <a:ext cx="64008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2926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3A67"/>
                </a:solidFill>
              </a:rPr>
              <a:t>Results — H2: Quality · H3: Sentiment · Ablation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12064" y="68580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28090"/>
                </a:solidFill>
              </a:rPr>
              <a:t>08 / Results &amp; Experimentation (continued)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0" y="310896"/>
            <a:ext cx="1188720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3108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H2 ✔ PASS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49440" y="310896"/>
            <a:ext cx="1188720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3108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H3 ✔ PASS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987552"/>
            <a:ext cx="278892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98755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H2: Summarization Quality (ECTSum, n=100)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80160"/>
          <a:ext cx="2788920" cy="1280160"/>
        </p:xfrm>
        <a:graphic>
          <a:graphicData uri="http://schemas.openxmlformats.org/drawingml/2006/table">
            <a:tbl>
              <a:tblPr/>
              <a:tblGrid>
                <a:gridCol w="1115568"/>
                <a:gridCol w="548640"/>
                <a:gridCol w="566928"/>
                <a:gridCol w="557784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Δ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ROUGE-1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0.28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</a:rPr>
                        <a:t>0.29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</a:rPr>
                        <a:t>+0.01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ROUGE-2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0.12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</a:rPr>
                        <a:t>0.13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</a:rPr>
                        <a:t>+0.01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ROUGE-L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0.32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0.31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</a:rPr>
                        <a:t>−0.01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</a:rPr>
                        <a:t>BERTScore-F1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0.880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0.887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+0.007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20040" y="2596896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|ΔROUGE-L| = 0.010 &lt; 1.0 tolerance ✔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BERTScore confirms semantic quality preserved</a:t>
            </a:r>
            <a:endParaRPr lang="en-US" sz="850" dirty="0"/>
          </a:p>
        </p:txBody>
      </p:sp>
      <p:pic>
        <p:nvPicPr>
          <p:cNvPr id="19" name="Image 0" descr="C:\Users\shaho\OneDrive - FAST National University\Attachments\@Fast\Semester 6\PDC + NLP\maor-equity\figures\fig5_rouge_comparis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0040" y="3054096"/>
            <a:ext cx="2788920" cy="1591056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3246120" y="987552"/>
            <a:ext cx="278892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310128" y="98755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H3: 3-D Sentiment Divergence (n=200 scenarios)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246120" y="1280160"/>
            <a:ext cx="2788920" cy="658368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3246120" y="128016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</a:rPr>
              <a:t>48%</a:t>
            </a:r>
            <a:endParaRPr lang="en-US" sz="3600" dirty="0"/>
          </a:p>
        </p:txBody>
      </p:sp>
      <p:sp>
        <p:nvSpPr>
          <p:cNvPr id="24" name="Text 20"/>
          <p:cNvSpPr/>
          <p:nvPr/>
        </p:nvSpPr>
        <p:spPr>
          <a:xfrm>
            <a:off x="4187952" y="128016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DB8D4"/>
                </a:solidFill>
              </a:rPr>
              <a:t>divergence vs scalar B3</a:t>
            </a:r>
            <a:endParaRPr lang="en-US" sz="10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6120" y="1975104"/>
          <a:ext cx="2788920" cy="969264"/>
        </p:xfrm>
        <a:graphic>
          <a:graphicData uri="http://schemas.openxmlformats.org/drawingml/2006/table">
            <a:tbl>
              <a:tblPr/>
              <a:tblGrid>
                <a:gridCol w="1508760"/>
                <a:gridCol w="640080"/>
                <a:gridCol w="640080"/>
              </a:tblGrid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Scalar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3-D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Earnings beat + SEC fine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7F1D1D"/>
                          </a:solidFill>
                        </a:rPr>
                        <a:t>BUY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65F46"/>
                          </a:solidFill>
                        </a:rPr>
                        <a:t>HOLD ✔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Weak quarter + bullish guide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7F1D1D"/>
                          </a:solidFill>
                        </a:rPr>
                        <a:t>SELL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65F46"/>
                          </a:solidFill>
                        </a:rPr>
                        <a:t>HOLD ✔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Neutral + litigation risk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B45309"/>
                          </a:solidFill>
                        </a:rPr>
                        <a:t>HOLD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65F46"/>
                          </a:solidFill>
                        </a:rPr>
                        <a:t>SELL ✔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1"/>
          <p:cNvSpPr/>
          <p:nvPr/>
        </p:nvSpPr>
        <p:spPr>
          <a:xfrm>
            <a:off x="3246120" y="298094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65F46"/>
                </a:solidFill>
              </a:rPr>
              <a:t>Target: &gt;10%  |  Achieved: 48%  ✔</a:t>
            </a:r>
            <a:endParaRPr lang="en-US" sz="900" dirty="0"/>
          </a:p>
        </p:txBody>
      </p:sp>
      <p:pic>
        <p:nvPicPr>
          <p:cNvPr id="27" name="Image 1" descr="C:\Users\shaho\OneDrive - FAST National University\Attachments\@Fast\Semester 6\PDC + NLP\maor-equity\figures\fig6_h3_sentimen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46120" y="3273552"/>
            <a:ext cx="2788920" cy="137160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172200" y="987552"/>
            <a:ext cx="2624328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236208" y="98755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Ablation: Speedup Drivers</a:t>
            </a:r>
            <a:endParaRPr lang="en-US" sz="950" dirty="0"/>
          </a:p>
        </p:txBody>
      </p:sp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280160"/>
          <a:ext cx="2624328" cy="1280160"/>
        </p:xfrm>
        <a:graphic>
          <a:graphicData uri="http://schemas.openxmlformats.org/drawingml/2006/table">
            <a:tbl>
              <a:tblPr/>
              <a:tblGrid>
                <a:gridCol w="1298448"/>
                <a:gridCol w="749808"/>
                <a:gridCol w="576072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Component Removed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74151"/>
                          </a:solidFill>
                        </a:rPr>
                        <a:t>ChunkFilter (79% cut)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+690s/ticker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28090"/>
                          </a:solidFill>
                        </a:rPr>
                        <a:t>~85%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Warm actor persist.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+60s/ticker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~8%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Inter-ticker pipeline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+8s/batch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~3%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Phase A parallelism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+5s/ticker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~2%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 24"/>
          <p:cNvSpPr/>
          <p:nvPr/>
        </p:nvSpPr>
        <p:spPr>
          <a:xfrm>
            <a:off x="6172200" y="2596896"/>
            <a:ext cx="262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ChunkFilter + warm actors → &gt;90% of speedup.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Phase A parallelism: validated; scales with more nodes.</a:t>
            </a:r>
            <a:endParaRPr lang="en-US" sz="850" dirty="0"/>
          </a:p>
        </p:txBody>
      </p:sp>
      <p:pic>
        <p:nvPicPr>
          <p:cNvPr id="32" name="Image 2" descr="C:\Users\shaho\OneDrive - FAST National University\Attachments\@Fast\Semester 6\PDC + NLP\maor-equity\figures\fig8_chunk_filter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72200" y="3017520"/>
            <a:ext cx="2624328" cy="16276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60F1D"/>
          </a:solidFill>
          <a:ln w="12700">
            <a:solidFill>
              <a:srgbClr val="060F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6B9ABE"/>
                </a:solidFill>
              </a:rPr>
              <a:t>MAOR-EQUITY (PDC+NLP) — FAST NUCES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47472" y="320040"/>
            <a:ext cx="6400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926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09 / Conclusion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47472" y="960120"/>
            <a:ext cx="2761488" cy="1554480"/>
          </a:xfrm>
          <a:prstGeom prst="rect">
            <a:avLst/>
          </a:prstGeom>
          <a:solidFill>
            <a:srgbClr val="08301A"/>
          </a:solidFill>
          <a:ln w="19050">
            <a:solidFill>
              <a:srgbClr val="065F4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960120"/>
            <a:ext cx="2761488" cy="5029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00584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H1 ✔ PASS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298448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</a:rPr>
              <a:t>1.72×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38912" y="184708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42% Latency Reduction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8912" y="2121408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EACD4"/>
                </a:solidFill>
              </a:rPr>
              <a:t>843s → 489s median  ·  target: &gt;30%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36976" y="960120"/>
            <a:ext cx="2761488" cy="1554480"/>
          </a:xfrm>
          <a:prstGeom prst="rect">
            <a:avLst/>
          </a:prstGeom>
          <a:solidFill>
            <a:srgbClr val="08301A"/>
          </a:solidFill>
          <a:ln w="19050">
            <a:solidFill>
              <a:srgbClr val="065F4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36976" y="960120"/>
            <a:ext cx="2761488" cy="5029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100584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H2 ✔ PASS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28416" y="1298448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</a:rPr>
              <a:t>−0.01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328416" y="184708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ROUGE-L Within Tolerance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28416" y="2121408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EACD4"/>
                </a:solidFill>
              </a:rPr>
              <a:t>BERTScore +0.007  ·  target: |Δ| ≤ 1.0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960120"/>
            <a:ext cx="2761488" cy="1554480"/>
          </a:xfrm>
          <a:prstGeom prst="rect">
            <a:avLst/>
          </a:prstGeom>
          <a:solidFill>
            <a:srgbClr val="08301A"/>
          </a:solidFill>
          <a:ln w="19050">
            <a:solidFill>
              <a:srgbClr val="065F4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960120"/>
            <a:ext cx="2761488" cy="5029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00584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H3 ✔ PASS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1298448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</a:rPr>
              <a:t>48%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217920" y="184708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Sentiment Divergence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17920" y="2121408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EACD4"/>
                </a:solidFill>
              </a:rPr>
              <a:t>3-D vs scalar  ·  target: &gt;10%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26517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Four Technical Contributions: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2980944"/>
            <a:ext cx="8321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D0E8FF"/>
                </a:solidFill>
              </a:rPr>
              <a:t>Phase-serialized GPU memory management — two LLMs co-resident in 4 GB T1000 (835 MB headroom)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D0E8FF"/>
                </a:solidFill>
              </a:rPr>
              <a:t>TF-IDF ChunkFilter — 79% chunk reduction, ~690 s saved per filing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D0E8FF"/>
                </a:solidFill>
              </a:rPr>
              <a:t>3-D FinBERT with regulatory veto — compliance risk invisible to scalar sentiment</a:t>
            </a:r>
            <a:endParaRPr lang="en-US" sz="12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D0E8FF"/>
                </a:solidFill>
              </a:rPr>
              <a:t>Honest Amdahl analysis — why 1.72× actual exceeds 1.019× theoretical bound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71600" y="44622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8FAE"/>
                </a:solidFill>
              </a:rPr>
              <a:t>“Measure what you can. Estimate the rest with rigor.”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60F1D"/>
          </a:solidFill>
          <a:ln w="12700">
            <a:solidFill>
              <a:srgbClr val="060F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8C0"/>
                </a:solidFill>
              </a:rPr>
              <a:t>GitHub: </a:t>
            </a:r>
            <a:pPr algn="ctr" indent="0" marL="0">
              <a:buNone/>
            </a:pPr>
            <a:r>
              <a:rPr lang="en-US" sz="850" u="sng" dirty="0">
                <a:solidFill>
                  <a:srgbClr val="5BA4C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https://github.com/Shahoud867/maor-equity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MAOR-EQUITY (PDC+NLP) — FAST NUCES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8C0"/>
                </a:solidFill>
              </a:rPr>
              <a:t>GitHub: </a:t>
            </a:r>
            <a:pPr algn="ctr" indent="0" marL="0">
              <a:buNone/>
            </a:pPr>
            <a:r>
              <a:rPr lang="en-US" sz="850" u="sng" dirty="0">
                <a:solidFill>
                  <a:srgbClr val="5BA4C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https://github.com/Shahoud867/maor-equity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321040" y="301752"/>
            <a:ext cx="530352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0" y="30175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320040"/>
            <a:ext cx="64008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2926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3A67"/>
                </a:solidFill>
              </a:rPr>
              <a:t>References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12064" y="68580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28090"/>
                </a:solidFill>
              </a:rPr>
              <a:t>10 / Academic sources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87552"/>
          <a:ext cx="8503920" cy="3703320"/>
        </p:xfrm>
        <a:graphic>
          <a:graphicData uri="http://schemas.openxmlformats.org/drawingml/2006/table">
            <a:tbl>
              <a:tblPr/>
              <a:tblGrid>
                <a:gridCol w="310896"/>
                <a:gridCol w="1481328"/>
                <a:gridCol w="5138928"/>
                <a:gridCol w="1572768"/>
              </a:tblGrid>
              <a:tr h="2314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Author(s)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Title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Venue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A67"/>
                    </a:solidFill>
                  </a:tcPr>
                </a:tc>
              </a:tr>
              <a:tr h="2314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28090"/>
                          </a:solidFill>
                        </a:rPr>
                        <a:t>1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Moritz et al. (2018)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Ray: A Distributed Framework for Emerging AI Applications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OSDI 2018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4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28090"/>
                          </a:solidFill>
                        </a:rPr>
                        <a:t>2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Araci (2019)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FinBERT: Financial Sentiment Analysis with Pre-Trained Language Models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arXiv:1908.10063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4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28090"/>
                          </a:solidFill>
                        </a:rPr>
                        <a:t>3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Abdin et al. (2024)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Phi-3 Technical Report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arXiv:2404.14219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4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28090"/>
                          </a:solidFill>
                        </a:rPr>
                        <a:t>4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Dettmers et al. (2023)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QLoRA: Efficient Finetuning of Quantized LLMs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NeurIPS 2023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4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28090"/>
                          </a:solidFill>
                        </a:rPr>
                        <a:t>5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Kwon et al. (2023)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Efficient Memory Management for LLM Serving with PagedAttention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SOSP 2023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4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28090"/>
                          </a:solidFill>
                        </a:rPr>
                        <a:t>6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Chang et al. (2023)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A Survey on Evaluation of Large Language Models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ACM TIST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4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28090"/>
                          </a:solidFill>
                        </a:rPr>
                        <a:t>7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Malo et al. (2014)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Good Debt or Bad Debt: Detecting Semantic Orientations in Economic Texts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JASIST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4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28090"/>
                          </a:solidFill>
                        </a:rPr>
                        <a:t>8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Loukas (2021)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Edgar-Corpus: Billions of Tokens Make The World Go Round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FinNLP Workshop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4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28090"/>
                          </a:solidFill>
                        </a:rPr>
                        <a:t>9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Amdahl (1967)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Validity of the Single Processor Approach to Large Scale Computing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AFIPS 1967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4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28090"/>
                          </a:solidFill>
                        </a:rPr>
                        <a:t>10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Dean &amp; Ghemawat (2008)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MapReduce: Simplified Data Processing on Large Clusters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CACM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4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28090"/>
                          </a:solidFill>
                        </a:rPr>
                        <a:t>11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Guo et al. (2022)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LongT5: Efficient Text-to-Text Transformer for Long Sequences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arXiv:2112.07916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4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28090"/>
                          </a:solidFill>
                        </a:rPr>
                        <a:t>12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Huang et al. (2023)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FinBen: A Holistic Financial Benchmark for Large Language Models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arXiv:2402.12659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4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28090"/>
                          </a:solidFill>
                        </a:rPr>
                        <a:t>13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Agrawal et al. (2024)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Taming Throughput-Latency Tradeoff in LLM Inference with Sarathi-Serve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OSDI 2024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4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28090"/>
                          </a:solidFill>
                        </a:rPr>
                        <a:t>14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Liu et al. (2019)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RoBERTa: A Robustly Optimized BERT Pretraining Approach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arXiv:1907.11692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4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028090"/>
                          </a:solidFill>
                        </a:rPr>
                        <a:t>15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Maia et al. (2018)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WWW'18 Open Challenge: Financial Opinion Mining and Q&amp;A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374151"/>
                          </a:solidFill>
                        </a:rPr>
                        <a:t>WWW 2018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MAOR-EQUITY: Distributed Multi-Dimensional NLP Pipeline for Real-Time Equity Research</dc:title>
  <dc:subject>PDC + NLP — FAST NUCES — Spring 2026</dc:subject>
  <dc:creator>Shahoud Shahid, Saif Shahzad</dc:creator>
  <cp:lastModifiedBy>Shahoud Shahid, Saif Shahzad</cp:lastModifiedBy>
  <cp:revision>1</cp:revision>
  <dcterms:created xsi:type="dcterms:W3CDTF">2026-05-02T16:46:34Z</dcterms:created>
  <dcterms:modified xsi:type="dcterms:W3CDTF">2026-05-02T16:46:34Z</dcterms:modified>
</cp:coreProperties>
</file>